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</p:sldMasterIdLst>
  <p:notesMasterIdLst>
    <p:notesMasterId r:id="rId8"/>
  </p:notesMasterIdLst>
  <p:sldIdLst>
    <p:sldId id="257" r:id="rId2"/>
    <p:sldId id="261" r:id="rId3"/>
    <p:sldId id="260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and and Lines Theme" id="{E7546378-863D-4945-B3D5-D8316AE26359}">
          <p14:sldIdLst>
            <p14:sldId id="257"/>
            <p14:sldId id="261"/>
            <p14:sldId id="260"/>
            <p14:sldId id="262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0E6"/>
    <a:srgbClr val="F5F0E6"/>
    <a:srgbClr val="D462AD"/>
    <a:srgbClr val="00C6D7"/>
    <a:srgbClr val="00629B"/>
    <a:srgbClr val="182B49"/>
    <a:srgbClr val="162B48"/>
    <a:srgbClr val="FC8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/>
    <p:restoredTop sz="63909"/>
  </p:normalViewPr>
  <p:slideViewPr>
    <p:cSldViewPr snapToGrid="0">
      <p:cViewPr varScale="1">
        <p:scale>
          <a:sx n="75" d="100"/>
          <a:sy n="75" d="100"/>
        </p:scale>
        <p:origin x="21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8D6E-A2CE-2347-BED1-AD58D8127801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D0A2BD-9294-044F-9EAE-3D61CCCAD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794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d010cfd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cd010cfd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0D4AF8AE-F6ED-54C4-07C6-DF0B3995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d010cfd3_1_7:notes">
            <a:extLst>
              <a:ext uri="{FF2B5EF4-FFF2-40B4-BE49-F238E27FC236}">
                <a16:creationId xmlns:a16="http://schemas.microsoft.com/office/drawing/2014/main" id="{2C7E4D0A-88E0-D580-6094-BD42E4BF0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cd010cfd3_1_7:notes">
            <a:extLst>
              <a:ext uri="{FF2B5EF4-FFF2-40B4-BE49-F238E27FC236}">
                <a16:creationId xmlns:a16="http://schemas.microsoft.com/office/drawing/2014/main" id="{7F8DC507-303E-350A-ACF4-96B381A75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608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A8F5E310-2F3E-E614-B5E7-481A2FCB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d010cfd3_1_7:notes">
            <a:extLst>
              <a:ext uri="{FF2B5EF4-FFF2-40B4-BE49-F238E27FC236}">
                <a16:creationId xmlns:a16="http://schemas.microsoft.com/office/drawing/2014/main" id="{A5031A6B-B59B-6C98-37E6-557BDDE90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cd010cfd3_1_7:notes">
            <a:extLst>
              <a:ext uri="{FF2B5EF4-FFF2-40B4-BE49-F238E27FC236}">
                <a16:creationId xmlns:a16="http://schemas.microsoft.com/office/drawing/2014/main" id="{CC422923-35E7-5416-E3FA-40C57F4E1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773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0E87DCDB-048A-C681-3E74-D2AEB01D8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d010cfd3_1_7:notes">
            <a:extLst>
              <a:ext uri="{FF2B5EF4-FFF2-40B4-BE49-F238E27FC236}">
                <a16:creationId xmlns:a16="http://schemas.microsoft.com/office/drawing/2014/main" id="{C80DA11F-EDAE-70C0-CB2E-2B7C5C107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g3cd010cfd3_1_7:notes">
            <a:extLst>
              <a:ext uri="{FF2B5EF4-FFF2-40B4-BE49-F238E27FC236}">
                <a16:creationId xmlns:a16="http://schemas.microsoft.com/office/drawing/2014/main" id="{FEEBBA75-85AB-09B4-A454-1A543C950A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3446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d010cfd3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cd010cfd3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6841809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g3e6841809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23985-ED02-ED85-37FF-3EC94DFF0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3F1A0-7D11-8E72-421C-B864E376D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CC533-8833-088E-4399-CF80DE28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37BA1-E3A2-7B08-35FD-ABF05425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5D0B2-B2F0-31A5-CA65-6B4D700C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0950D4-115C-B5A0-FCE3-CB89A53F0CF6}"/>
              </a:ext>
            </a:extLst>
          </p:cNvPr>
          <p:cNvGrpSpPr/>
          <p:nvPr userDrawn="1"/>
        </p:nvGrpSpPr>
        <p:grpSpPr>
          <a:xfrm>
            <a:off x="10431483" y="67846"/>
            <a:ext cx="1706956" cy="613192"/>
            <a:chOff x="1259806" y="4429919"/>
            <a:chExt cx="2292863" cy="823668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19D49F99-34B2-0123-A367-D7F51C82CFB4}"/>
                </a:ext>
              </a:extLst>
            </p:cNvPr>
            <p:cNvSpPr/>
            <p:nvPr/>
          </p:nvSpPr>
          <p:spPr>
            <a:xfrm>
              <a:off x="1259806" y="4429919"/>
              <a:ext cx="2292863" cy="8236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close-up of a logo&#10;&#10;Description automatically generated">
              <a:extLst>
                <a:ext uri="{FF2B5EF4-FFF2-40B4-BE49-F238E27FC236}">
                  <a16:creationId xmlns:a16="http://schemas.microsoft.com/office/drawing/2014/main" id="{97D1569F-1F22-3A47-0A92-940448DF86C6}"/>
                </a:ext>
              </a:extLst>
            </p:cNvPr>
            <p:cNvPicPr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337933" y="4527392"/>
              <a:ext cx="2136608" cy="6287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478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9389-4C6F-E75B-6D2B-F580B134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F4F6-DDA7-06C2-8DC3-B8DFE1FE7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A7C42-6FC7-AE56-810A-232350301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55F26-B8DE-F6A5-6ECD-C95FAEEC8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A93E4-CE8F-9BFC-62F5-32597413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67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3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2EB29-4B9C-311F-6B6F-1BEAF4070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4C28-A1E1-35A5-128A-DA8B3838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6011D-C043-4AEF-FC46-6BA5749C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1A820-8B81-0A88-D2F9-CA6D1DD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8F571-B65D-456D-08C1-6E9F62A1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5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4B5-53BB-857B-375A-A5416C01E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0E8C-A019-F7B2-957E-BCB179563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C0F87-B6A8-DA09-2C54-499C72E45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A056C-9B78-5681-4E70-8E5F0F3B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B78ED-0C80-F58B-4C94-1C336EDF6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A17CD-3292-3E9A-8A7E-EBA1AB9B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0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2FFFB-800B-B084-9963-1689ABF9A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253AC-4EF5-0E6A-7CF4-FC91E65A4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C036F-C1E1-75F1-7352-0DD96EFF3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AC18B-4D2C-01FC-A58D-3025B3AB2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91B13-BA23-B85B-BAEE-C767DA571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61888-B230-358F-8ADF-14E8691CC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754A26-2D96-F6E7-67C8-CD4BB5B9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7749E-D352-C24B-0C3A-6A460E8A1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9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5DCE-69AA-BE05-9E91-B9655733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5E0D9-2D45-D9E0-1214-8AB4B998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124AA-864F-ECD9-6A67-F8F8E84D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CCED5-054A-8F1F-A7E5-55DAA078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ADBFF5-C9E2-9F2C-0BEE-BAB346A75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773E5-1FA4-1335-DE67-F02D67E7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368AC-8A5E-6682-A5C4-9C0BC9F47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88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EB14-2EBE-2968-A67F-D9564E77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DD8FA-E3AF-3429-BC62-250E45BE0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0AF25-CFB6-E20B-D535-97793D51D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41F95-6C79-A842-26C0-5D6907DD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91BA3-6406-838C-3F9B-6F65E4119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671688-EF9F-9A6C-99BF-90FBB628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46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3C43-4CD0-B851-18D3-B407AE907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7DC7E-128F-092C-2F36-E4A1D84CE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3DD6E-B9AF-CFF5-4B1E-516F626CC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C3BAF-C309-D7B5-F5A4-9C49D641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F4740-891E-29BA-FE61-E8B1DC09C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B072-DF3E-7108-FADA-8192F05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3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D3AC2-1FD0-269A-30BF-EDF8E425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F7E62-CFCE-E2EB-A77B-9222210899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3071A-BC41-7E02-9D99-666DAF0FB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5D539-0064-4E10-6D75-7B156557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C6C8-B43B-5928-EDF6-E61138E4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31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3BCED5-773C-AB79-EB4D-AED5A05E4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9BB5D-65D1-F825-5A0C-2C814FB57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B5E4A-A0C2-7B8E-2F94-80F616CFD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1FB8F-7662-6C49-94FA-9EC32BC7CDA0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7343E-5E87-DFF6-26A6-07969D1C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A61A-491B-3B42-13C0-D4527BC5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B0BD-A87D-2F49-85EA-5F608913A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60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15600" y="421233"/>
            <a:ext cx="11360800" cy="11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A4"/>
              </a:buClr>
              <a:buSzPts val="1400"/>
              <a:buFont typeface="Economica"/>
              <a:buNone/>
              <a:defRPr sz="5600" b="0" i="0" u="none" strike="noStrike" cap="none">
                <a:solidFill>
                  <a:srgbClr val="0064A4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conomica"/>
              <a:buNone/>
              <a:defRPr sz="56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15600" y="1633633"/>
            <a:ext cx="11360800" cy="4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0" lvl="0" indent="-30479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2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1219170" marR="0" lvl="1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828754" marR="0" lvl="2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2438339" marR="0" lvl="3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3047924" marR="0" lvl="4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3657509" marR="0" lvl="5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4267093" marR="0" lvl="6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4876678" marR="0" lvl="7" indent="-304792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5486263" marR="0" lvl="8" indent="-304792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Open Sans"/>
              <a:buNone/>
              <a:defRPr sz="1867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296609" y="621762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sz="1333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  <p:extLst>
      <p:ext uri="{BB962C8B-B14F-4D97-AF65-F5344CB8AC3E}">
        <p14:creationId xmlns:p14="http://schemas.microsoft.com/office/powerpoint/2010/main" val="2747904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EB024-F9A9-934E-D0A6-15D54AA43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9FEE9-A5CD-3910-6B75-5CDDEB4F0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6D42-C73C-B961-5A8A-182AB5A47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6D1FB8F-7662-6C49-94FA-9EC32BC7CDA0}" type="datetimeFigureOut">
              <a:rPr lang="en-US" smtClean="0"/>
              <a:pPr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87DE6-826D-B75D-6F06-CEEDFACD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41D5-F28E-CB88-FD67-23A130AE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82B49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FBD9B0BD-A87D-2F49-85EA-5F608913A4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C45F001-4997-D752-D547-F3D8AA0E8CA6}"/>
              </a:ext>
            </a:extLst>
          </p:cNvPr>
          <p:cNvSpPr/>
          <p:nvPr userDrawn="1"/>
        </p:nvSpPr>
        <p:spPr>
          <a:xfrm>
            <a:off x="0" y="6790154"/>
            <a:ext cx="12192000" cy="1182771"/>
          </a:xfrm>
          <a:prstGeom prst="roundRect">
            <a:avLst/>
          </a:prstGeom>
          <a:noFill/>
          <a:ln w="31750">
            <a:solidFill>
              <a:srgbClr val="006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84F2DD3-36D1-C115-C199-20B120DF85F2}"/>
              </a:ext>
            </a:extLst>
          </p:cNvPr>
          <p:cNvSpPr/>
          <p:nvPr userDrawn="1"/>
        </p:nvSpPr>
        <p:spPr>
          <a:xfrm>
            <a:off x="1" y="-940360"/>
            <a:ext cx="12192000" cy="1099805"/>
          </a:xfrm>
          <a:prstGeom prst="roundRect">
            <a:avLst/>
          </a:prstGeom>
          <a:noFill/>
          <a:ln w="47625">
            <a:solidFill>
              <a:srgbClr val="00C6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C485C2-D981-6433-6F7A-AEA09FD4FD53}"/>
              </a:ext>
            </a:extLst>
          </p:cNvPr>
          <p:cNvSpPr/>
          <p:nvPr userDrawn="1"/>
        </p:nvSpPr>
        <p:spPr>
          <a:xfrm>
            <a:off x="0" y="-1020597"/>
            <a:ext cx="12192000" cy="1099805"/>
          </a:xfrm>
          <a:prstGeom prst="roundRect">
            <a:avLst/>
          </a:prstGeom>
          <a:noFill/>
          <a:ln w="31750">
            <a:solidFill>
              <a:srgbClr val="D46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C6D7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B547D8-4F3F-EBF8-2585-E4FAA509A46A}"/>
              </a:ext>
            </a:extLst>
          </p:cNvPr>
          <p:cNvSpPr txBox="1"/>
          <p:nvPr userDrawn="1"/>
        </p:nvSpPr>
        <p:spPr>
          <a:xfrm>
            <a:off x="0" y="6613753"/>
            <a:ext cx="285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solidFill>
                  <a:srgbClr val="E7F0E6"/>
                </a:solidFill>
              </a:rPr>
              <a:t>Template designed by Tim Palmer </a:t>
            </a:r>
            <a:r>
              <a:rPr lang="en-US" sz="800" dirty="0" err="1">
                <a:solidFill>
                  <a:srgbClr val="E7F0E6"/>
                </a:solidFill>
              </a:rPr>
              <a:t>tpalmer@ucsd.edu</a:t>
            </a:r>
            <a:endParaRPr lang="en-US" sz="800" dirty="0">
              <a:solidFill>
                <a:srgbClr val="E7F0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8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8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82B49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wo%27s_comple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xfrm>
            <a:off x="609600" y="138674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b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xfrm>
            <a:off x="609599" y="2835877"/>
            <a:ext cx="11463867" cy="52006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sz="2000" dirty="0"/>
              <a:t>1</a:t>
            </a:r>
            <a:r>
              <a:rPr lang="en-US" dirty="0"/>
              <a:t>. Choose the best processor type for each product and justify briefly:</a:t>
            </a:r>
          </a:p>
          <a:p>
            <a:r>
              <a:rPr lang="en-US" dirty="0"/>
              <a:t>a) Battery-powered thermostat</a:t>
            </a:r>
          </a:p>
          <a:p>
            <a:r>
              <a:rPr lang="en-US" dirty="0"/>
              <a:t>b) Smart camera with video streaming</a:t>
            </a:r>
          </a:p>
          <a:p>
            <a:r>
              <a:rPr lang="en-US" dirty="0"/>
              <a:t>c) Motor controller for an industrial robot</a:t>
            </a:r>
          </a:p>
          <a:p>
            <a:r>
              <a:rPr lang="en-US" dirty="0"/>
              <a:t>d) Audio noise cancellation system</a:t>
            </a: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F9C56F15-CEC8-F0F0-C2C9-1F48BD085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827F14EB-194E-B2B7-A01D-82B50B8F04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8674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b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7DC495C6-F79A-5EDD-E3FA-558F0BE69C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2835877"/>
            <a:ext cx="10972800" cy="52006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dirty="0"/>
              <a:t>2. You need months of battery life and simple sensor monitoring. </a:t>
            </a:r>
          </a:p>
          <a:p>
            <a:r>
              <a:rPr lang="en-US" dirty="0"/>
              <a:t>Which architecture would you choose and why: MCU, MPU, or SoC? </a:t>
            </a:r>
          </a:p>
          <a:p>
            <a:r>
              <a:rPr lang="en-US" dirty="0"/>
              <a:t>In your analysis, mention power and software complexity.</a:t>
            </a: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3483587"/>
      </p:ext>
    </p:extLst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F2C1643B-B7C0-2498-73C4-7E9FC636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4D7A1D85-C942-9E27-BE07-4422F5890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8674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b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A3C2F03F-F950-47BB-734F-F8E865982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599" y="2835877"/>
            <a:ext cx="11311467" cy="52006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Clr>
                <a:srgbClr val="000000"/>
              </a:buClr>
              <a:buSzPts val="3006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What are the main differences between </a:t>
            </a:r>
            <a:b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Von-Neumann and Harvard Architecture?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spcBef>
                <a:spcPts val="800"/>
              </a:spcBef>
              <a:buClr>
                <a:srgbClr val="000000"/>
              </a:buClr>
              <a:buSzPts val="3006"/>
            </a:pPr>
            <a:endParaRPr dirty="0"/>
          </a:p>
          <a:p>
            <a:pPr marL="457189" indent="-457189">
              <a:spcBef>
                <a:spcPts val="800"/>
              </a:spcBef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1434171"/>
      </p:ext>
    </p:extLst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>
          <a:extLst>
            <a:ext uri="{FF2B5EF4-FFF2-40B4-BE49-F238E27FC236}">
              <a16:creationId xmlns:a16="http://schemas.microsoft.com/office/drawing/2014/main" id="{C4BAA94D-A0F1-1D45-A464-4967FCCB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>
            <a:extLst>
              <a:ext uri="{FF2B5EF4-FFF2-40B4-BE49-F238E27FC236}">
                <a16:creationId xmlns:a16="http://schemas.microsoft.com/office/drawing/2014/main" id="{9D157D79-B091-C913-604C-E9A45E291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138674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</a:t>
            </a:r>
            <a:b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57" name="Google Shape;57;p11">
            <a:extLst>
              <a:ext uri="{FF2B5EF4-FFF2-40B4-BE49-F238E27FC236}">
                <a16:creationId xmlns:a16="http://schemas.microsoft.com/office/drawing/2014/main" id="{F72757B9-4D59-FE29-3654-18ED8292B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2835877"/>
            <a:ext cx="10972800" cy="52006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800"/>
              </a:spcBef>
              <a:buClr>
                <a:srgbClr val="000000"/>
              </a:buClr>
              <a:buSzPts val="3006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What is the difference between little and big endian addressing modes?</a:t>
            </a:r>
            <a:endParaRPr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189" indent="-457189">
              <a:spcBef>
                <a:spcPts val="800"/>
              </a:spcBef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0376965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88324" y="133731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</a:t>
            </a:r>
            <a:b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xfrm>
            <a:off x="609600" y="2835876"/>
            <a:ext cx="10972800" cy="49476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buClr>
                <a:srgbClr val="000000"/>
              </a:buClr>
              <a:buSzPts val="3006"/>
            </a:pP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Which CPSR flags (NZCV) will be set after these operations?</a:t>
            </a:r>
            <a:b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Negative numbers use 2’s complement arithmetic.</a:t>
            </a:r>
            <a:b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en" u="sng" dirty="0">
                <a:solidFill>
                  <a:schemeClr val="hlin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  <a:hlinkClick r:id="rId3"/>
              </a:rPr>
              <a:t>https://en.wikipedia.org/wiki/Two%27s_complement</a:t>
            </a:r>
            <a:endParaRPr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457189" indent="0"/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a) -1+1</a:t>
            </a:r>
            <a:b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en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b) 2 - 3</a:t>
            </a:r>
            <a:b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800"/>
              </a:spcBef>
            </a:pPr>
            <a:endParaRPr dirty="0"/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609600" y="-66063"/>
            <a:ext cx="109728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609585" algn="ctr">
              <a:buClr>
                <a:srgbClr val="000000"/>
              </a:buClr>
              <a:buSzPts val="3600"/>
            </a:pPr>
            <a:r>
              <a:rPr lang="en" sz="4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800" dirty="0">
                <a:solidFill>
                  <a:srgbClr val="0070C0"/>
                </a:solidFill>
              </a:rPr>
              <a:t>Embedded System HW Design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Week3 </a:t>
            </a:r>
            <a:br>
              <a:rPr lang="en-US" sz="4800" dirty="0">
                <a:solidFill>
                  <a:srgbClr val="0070C0"/>
                </a:solidFill>
              </a:rPr>
            </a:br>
            <a:r>
              <a:rPr lang="en-US" sz="4800" dirty="0">
                <a:solidFill>
                  <a:srgbClr val="0070C0"/>
                </a:solidFill>
              </a:rPr>
              <a:t>Quiz #2</a:t>
            </a:r>
            <a:endParaRPr dirty="0"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609600" y="955200"/>
            <a:ext cx="10972800" cy="5562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>
              <a:spcBef>
                <a:spcPts val="800"/>
              </a:spcBef>
              <a:buClr>
                <a:srgbClr val="000000"/>
              </a:buClr>
              <a:buSzPts val="3006"/>
            </a:pPr>
            <a:r>
              <a:rPr lang="en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6. Here is a bit pattern, with the most significant bits written on the left: 0xFF00AA11. </a:t>
            </a:r>
          </a:p>
          <a:p>
            <a:pPr marL="0" indent="0">
              <a:spcBef>
                <a:spcPts val="800"/>
              </a:spcBef>
              <a:buClr>
                <a:srgbClr val="000000"/>
              </a:buClr>
              <a:buSzPts val="3006"/>
            </a:pPr>
            <a:r>
              <a:rPr lang="en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Copy the 4 bytes to memory using </a:t>
            </a: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big-endian</a:t>
            </a:r>
            <a:r>
              <a:rPr lang="en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and </a:t>
            </a:r>
            <a:r>
              <a:rPr lang="en-US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little-endian</a:t>
            </a:r>
            <a:r>
              <a:rPr lang="en" sz="20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orders</a:t>
            </a:r>
            <a:endParaRPr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indent="-33019">
              <a:spcBef>
                <a:spcPts val="800"/>
              </a:spcBef>
              <a:buClr>
                <a:srgbClr val="000000"/>
              </a:buClr>
              <a:buSzPts val="5010"/>
            </a:pPr>
            <a:endParaRPr sz="4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" name="Google Shape;70;p13"/>
          <p:cNvGraphicFramePr/>
          <p:nvPr>
            <p:extLst>
              <p:ext uri="{D42A27DB-BD31-4B8C-83A1-F6EECF244321}">
                <p14:modId xmlns:p14="http://schemas.microsoft.com/office/powerpoint/2010/main" val="2637826019"/>
              </p:ext>
            </p:extLst>
          </p:nvPr>
        </p:nvGraphicFramePr>
        <p:xfrm>
          <a:off x="802198" y="2423213"/>
          <a:ext cx="4176201" cy="4023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604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532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Little Endian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Address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Contents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0x1000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0x1001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0x1002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0x1003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" name="Google Shape;71;p13"/>
          <p:cNvGraphicFramePr/>
          <p:nvPr>
            <p:extLst>
              <p:ext uri="{D42A27DB-BD31-4B8C-83A1-F6EECF244321}">
                <p14:modId xmlns:p14="http://schemas.microsoft.com/office/powerpoint/2010/main" val="1763430120"/>
              </p:ext>
            </p:extLst>
          </p:nvPr>
        </p:nvGraphicFramePr>
        <p:xfrm>
          <a:off x="5454603" y="2423213"/>
          <a:ext cx="3956800" cy="4023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532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Big Endian</a:t>
                      </a:r>
                      <a:endParaRPr sz="24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 </a:t>
                      </a:r>
                      <a:endParaRPr sz="2400"/>
                    </a:p>
                  </a:txBody>
                  <a:tcPr marL="121900" marR="121900" marT="121900" marB="121900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Address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Contents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0x1000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0x1001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0x1002</a:t>
                      </a: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0x1003</a:t>
                      </a: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21900" marR="121900" marT="121900" marB="1219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and and Lines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19280</TotalTime>
  <Words>279</Words>
  <Application>Microsoft Macintosh PowerPoint</Application>
  <PresentationFormat>Widescreen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Economica</vt:lpstr>
      <vt:lpstr>Open Sans</vt:lpstr>
      <vt:lpstr>Source Sans Pro</vt:lpstr>
      <vt:lpstr>Sand and Lines Theme</vt:lpstr>
      <vt:lpstr>                 Embedded System HW Design  Week3  Quiz #2</vt:lpstr>
      <vt:lpstr>                 Embedded System HW Design  Week3  Quiz #2</vt:lpstr>
      <vt:lpstr>                 Embedded System HW Design  Week3  Quiz #2</vt:lpstr>
      <vt:lpstr>                 Embedded System HW Design  Week3  Quiz #2</vt:lpstr>
      <vt:lpstr>                   Embedded System HW Design  Week3  Quiz #2</vt:lpstr>
      <vt:lpstr> Embedded System HW Design  Week3  Quiz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Palmer</dc:creator>
  <cp:lastModifiedBy>Saleem M Yamani</cp:lastModifiedBy>
  <cp:revision>47</cp:revision>
  <dcterms:created xsi:type="dcterms:W3CDTF">2024-08-26T22:26:25Z</dcterms:created>
  <dcterms:modified xsi:type="dcterms:W3CDTF">2026-01-19T08:02:29Z</dcterms:modified>
</cp:coreProperties>
</file>